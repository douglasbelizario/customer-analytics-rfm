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B4BEBF"/>
    <a:srgbClr val="191726"/>
    <a:srgbClr val="027368"/>
    <a:srgbClr val="5D7173"/>
    <a:srgbClr val="F27C38"/>
    <a:srgbClr val="381D73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B8016-E8DA-040B-C80B-239B0DACE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836DC1-A02F-713D-DBB7-EC54358A1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DAFB1B-99C3-3344-AD82-97911156F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4F8360-9C59-FC42-60D5-FD411BBE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B32BAB-273B-5B43-0D49-EED1A00B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114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EA7861-AB83-5F62-57E7-165CC369A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A510AE-4B57-DA89-73CA-AB1E4C046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43EB65-7691-7BBC-B481-1F70F04D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88E6D3-35A5-8D98-0DBF-696673D0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F2CCBF-929D-EB47-C5EE-FF00F1AF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825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BEA64-B87A-6149-7D7A-D67D91C39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90FC3-9841-8BB8-6150-EF5FD036D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55317E-F785-8D58-0910-5D46DA3D2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BB219-9D40-7B6B-A742-B0EC4EFE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6F8140-A1F5-F736-7537-85349BE4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25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1D028-8CAD-571E-B199-141509DB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9421D-1932-1005-E6E1-459E66CDB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62DB27-64D7-36C5-9438-BECB7208A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47579E-3B09-28AE-1D7C-661D217D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DB5E92-7BCE-7949-1C60-2772458A8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5CF098-16E1-24E1-DC69-B6A53B00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30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8EE99-F645-A2A8-6993-4E15E5E1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E0BF45-2BAC-5D3A-DEF4-CAB3C29F7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BB281E-F0C2-7227-2370-B4A2BA403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6DC8C1A-C095-4BA2-258C-8D402C162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0A10A9-A4BF-D7C4-B0B9-2F72648A5A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277F185-6DD1-9ACC-EA75-F5FE6B26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4B48101-71F4-2577-8CCC-C0101DB84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047118-3861-C559-DB92-CA20B023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006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FDD0D-E1B8-D89F-647B-0CDF96A51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EAC042C-FA69-F243-B8C3-18732F2A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73B170D-1E49-6FB4-7F4D-08E464FDF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EB46A5-9A6E-8F4C-5BF4-C323D003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28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574A7D7-D97B-5B5F-C4C8-C1E45C9B5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0872776-CC0C-10C7-7A1D-1F768890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54E9E5-972D-D0A1-2926-7CE655C5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510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BCBB8-250A-94E5-75DA-38557A853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0F80D-C2E4-C53A-D9F2-75C06C5B4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C7C1AF-CD53-5402-EFE7-980F99C17F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003BF5-DDB1-F53E-1746-A59E1F676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E4AF55-B59F-1E35-1CF6-52CE62AEB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E36BCA-DCD4-A6B6-7E92-97E05CEA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341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03904-B8CE-69C2-21BB-13DF76B8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69DEF3-08BE-57EB-4B0E-B09F43E0F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6CD82C-D957-FB00-D0CD-5DA43D5D7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143280-7A59-29CB-C482-D7B0E5ED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2653D5-06E1-1084-EB11-E72C9078B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061CD6-F98E-D5B0-A1F3-3BF8414DC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5492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6A2BF-C44A-80C3-23A4-A934D300F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28EDBF-479F-EB2B-B430-BF9B6599A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A14B4F-246E-7D9C-A28F-C3483271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7C3C94-D606-77FF-08C4-D8F79077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44E5D2-A49C-20AE-62BC-9F2424EF5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2167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96F7CA-98A7-35AA-46ED-612E38E55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BBE70CD-7D8B-5D5A-A5D6-F853A25AE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8E457A-CCF3-81E0-21F3-1640A42F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73CFE2-C3E3-3A29-3237-F7E516CF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9F5CC1-8DFD-A56C-48C9-946BA1224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80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EEA599C-9F27-8503-04A1-9F9D3E72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014E37-59C7-DD91-72FC-027BB3528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F36228-EB9E-3D97-7195-571523F20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B4A03-3916-4791-8A3A-5E4B6BFF3EFF}" type="datetimeFigureOut">
              <a:rPr lang="pt-BR" smtClean="0"/>
              <a:t>13/02/2026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CEB6DB-BF4B-C616-219E-26CA0F5AE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E4A36-C59D-93F8-BDDA-178D372C9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294AFE-18CE-4327-9387-7EE5207129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9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6D8E6-A38F-2B4D-E758-429C4F193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332A9E-F829-F728-2517-9F02FA6445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2A39399-48FA-5383-D126-04D3AFB65C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917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Superiores Arredondados 4">
            <a:extLst>
              <a:ext uri="{FF2B5EF4-FFF2-40B4-BE49-F238E27FC236}">
                <a16:creationId xmlns:a16="http://schemas.microsoft.com/office/drawing/2014/main" id="{62C2FEC5-AE74-034A-810D-3CCB528DB7FB}"/>
              </a:ext>
            </a:extLst>
          </p:cNvPr>
          <p:cNvSpPr/>
          <p:nvPr/>
        </p:nvSpPr>
        <p:spPr>
          <a:xfrm>
            <a:off x="0" y="1130474"/>
            <a:ext cx="12192000" cy="5727526"/>
          </a:xfrm>
          <a:prstGeom prst="round2SameRect">
            <a:avLst>
              <a:gd name="adj1" fmla="val 5867"/>
              <a:gd name="adj2" fmla="val 0"/>
            </a:avLst>
          </a:prstGeom>
          <a:solidFill>
            <a:srgbClr val="B4BE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340147C-1117-1F56-9C36-30E824CD7591}"/>
              </a:ext>
            </a:extLst>
          </p:cNvPr>
          <p:cNvSpPr/>
          <p:nvPr/>
        </p:nvSpPr>
        <p:spPr>
          <a:xfrm rot="5400000">
            <a:off x="5948399" y="-4235866"/>
            <a:ext cx="295201" cy="116020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just"/>
            <a:r>
              <a:rPr lang="pt-BR" dirty="0">
                <a:solidFill>
                  <a:srgbClr val="19172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Análise Estratégica de Clientes – Segmentação RFM e Concentração de Receita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657901BC-38B5-175C-0171-B0F8CCD43631}"/>
              </a:ext>
            </a:extLst>
          </p:cNvPr>
          <p:cNvSpPr/>
          <p:nvPr/>
        </p:nvSpPr>
        <p:spPr>
          <a:xfrm>
            <a:off x="294967" y="2006247"/>
            <a:ext cx="1687868" cy="918775"/>
          </a:xfrm>
          <a:prstGeom prst="roundRect">
            <a:avLst>
              <a:gd name="adj" fmla="val 9480"/>
            </a:avLst>
          </a:prstGeom>
          <a:solidFill>
            <a:srgbClr val="5D71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33E2C2A-38DE-6319-C9B0-479A7451FCBC}"/>
              </a:ext>
            </a:extLst>
          </p:cNvPr>
          <p:cNvSpPr/>
          <p:nvPr/>
        </p:nvSpPr>
        <p:spPr>
          <a:xfrm>
            <a:off x="2277805" y="2004528"/>
            <a:ext cx="1687868" cy="920494"/>
          </a:xfrm>
          <a:prstGeom prst="roundRect">
            <a:avLst>
              <a:gd name="adj" fmla="val 9480"/>
            </a:avLst>
          </a:prstGeom>
          <a:solidFill>
            <a:srgbClr val="5D71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83272B6-55D1-24CF-4710-DE02B151D176}"/>
              </a:ext>
            </a:extLst>
          </p:cNvPr>
          <p:cNvSpPr/>
          <p:nvPr/>
        </p:nvSpPr>
        <p:spPr>
          <a:xfrm>
            <a:off x="4260645" y="2004528"/>
            <a:ext cx="1687868" cy="920494"/>
          </a:xfrm>
          <a:prstGeom prst="roundRect">
            <a:avLst>
              <a:gd name="adj" fmla="val 9480"/>
            </a:avLst>
          </a:prstGeom>
          <a:solidFill>
            <a:srgbClr val="5D71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294A738-8C4F-C53B-88F9-58E91A051694}"/>
              </a:ext>
            </a:extLst>
          </p:cNvPr>
          <p:cNvSpPr/>
          <p:nvPr/>
        </p:nvSpPr>
        <p:spPr>
          <a:xfrm>
            <a:off x="6243484" y="2006246"/>
            <a:ext cx="1687868" cy="918775"/>
          </a:xfrm>
          <a:prstGeom prst="roundRect">
            <a:avLst>
              <a:gd name="adj" fmla="val 9480"/>
            </a:avLst>
          </a:prstGeom>
          <a:solidFill>
            <a:srgbClr val="5D71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E78A50B-9D55-33C0-B866-C10D2E5F3326}"/>
              </a:ext>
            </a:extLst>
          </p:cNvPr>
          <p:cNvSpPr/>
          <p:nvPr/>
        </p:nvSpPr>
        <p:spPr>
          <a:xfrm>
            <a:off x="8226324" y="2004527"/>
            <a:ext cx="1687868" cy="920493"/>
          </a:xfrm>
          <a:prstGeom prst="roundRect">
            <a:avLst>
              <a:gd name="adj" fmla="val 9480"/>
            </a:avLst>
          </a:prstGeom>
          <a:solidFill>
            <a:srgbClr val="5D71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4C88472-DE75-242E-8E6D-E6DD35DE0AEB}"/>
              </a:ext>
            </a:extLst>
          </p:cNvPr>
          <p:cNvSpPr/>
          <p:nvPr/>
        </p:nvSpPr>
        <p:spPr>
          <a:xfrm>
            <a:off x="10209160" y="2002424"/>
            <a:ext cx="1687868" cy="922595"/>
          </a:xfrm>
          <a:prstGeom prst="roundRect">
            <a:avLst>
              <a:gd name="adj" fmla="val 9480"/>
            </a:avLst>
          </a:prstGeom>
          <a:solidFill>
            <a:srgbClr val="5D71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77A5F8C-661D-DCA4-F1D6-E23D72D314FA}"/>
              </a:ext>
            </a:extLst>
          </p:cNvPr>
          <p:cNvSpPr/>
          <p:nvPr/>
        </p:nvSpPr>
        <p:spPr>
          <a:xfrm>
            <a:off x="307258" y="3226620"/>
            <a:ext cx="5628963" cy="1503715"/>
          </a:xfrm>
          <a:prstGeom prst="roundRect">
            <a:avLst>
              <a:gd name="adj" fmla="val 9480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4310721-E84D-277B-BA2A-0D2779A91F5D}"/>
              </a:ext>
            </a:extLst>
          </p:cNvPr>
          <p:cNvSpPr/>
          <p:nvPr/>
        </p:nvSpPr>
        <p:spPr>
          <a:xfrm>
            <a:off x="316477" y="5041997"/>
            <a:ext cx="5628963" cy="1503715"/>
          </a:xfrm>
          <a:prstGeom prst="roundRect">
            <a:avLst>
              <a:gd name="adj" fmla="val 9480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99B77905-EC09-A209-D4BC-6F351DD20F59}"/>
              </a:ext>
            </a:extLst>
          </p:cNvPr>
          <p:cNvSpPr/>
          <p:nvPr/>
        </p:nvSpPr>
        <p:spPr>
          <a:xfrm>
            <a:off x="6268065" y="3241917"/>
            <a:ext cx="5628963" cy="1503715"/>
          </a:xfrm>
          <a:prstGeom prst="roundRect">
            <a:avLst>
              <a:gd name="adj" fmla="val 9480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C90558C6-BD9C-CF19-5CA7-ECD966F632B2}"/>
              </a:ext>
            </a:extLst>
          </p:cNvPr>
          <p:cNvSpPr/>
          <p:nvPr/>
        </p:nvSpPr>
        <p:spPr>
          <a:xfrm>
            <a:off x="6255774" y="5057757"/>
            <a:ext cx="5628963" cy="1503715"/>
          </a:xfrm>
          <a:prstGeom prst="roundRect">
            <a:avLst>
              <a:gd name="adj" fmla="val 9480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7F9C9AA0-2842-AC3A-F3A3-6D0DBE3C7AE7}"/>
              </a:ext>
            </a:extLst>
          </p:cNvPr>
          <p:cNvSpPr/>
          <p:nvPr/>
        </p:nvSpPr>
        <p:spPr>
          <a:xfrm rot="5400000" flipH="1">
            <a:off x="931125" y="4677583"/>
            <a:ext cx="318455" cy="12368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just"/>
            <a:r>
              <a:rPr lang="pt-BR" sz="1050" dirty="0">
                <a:solidFill>
                  <a:srgbClr val="19172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Top 5 clientes 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855C1A9A-4E78-EDED-1574-8E8093E3F19D}"/>
              </a:ext>
            </a:extLst>
          </p:cNvPr>
          <p:cNvSpPr/>
          <p:nvPr/>
        </p:nvSpPr>
        <p:spPr>
          <a:xfrm rot="5400000" flipH="1">
            <a:off x="6829050" y="4769964"/>
            <a:ext cx="318455" cy="1052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just"/>
            <a:r>
              <a:rPr lang="pt-BR" sz="1050" dirty="0">
                <a:solidFill>
                  <a:srgbClr val="19172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Pareto 80/20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AEC40D84-F6B1-6C79-59E6-5C1EBB253A97}"/>
              </a:ext>
            </a:extLst>
          </p:cNvPr>
          <p:cNvSpPr/>
          <p:nvPr/>
        </p:nvSpPr>
        <p:spPr>
          <a:xfrm rot="5400000" flipH="1">
            <a:off x="7240775" y="2546226"/>
            <a:ext cx="318455" cy="1875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pt-BR" sz="1050" dirty="0">
                <a:solidFill>
                  <a:srgbClr val="19172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Receita total por segmento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B51F081-B730-4C1C-02BF-A4036E36F64E}"/>
              </a:ext>
            </a:extLst>
          </p:cNvPr>
          <p:cNvSpPr/>
          <p:nvPr/>
        </p:nvSpPr>
        <p:spPr>
          <a:xfrm rot="5400000" flipH="1">
            <a:off x="1403278" y="2393413"/>
            <a:ext cx="318455" cy="21811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pt-BR" sz="1050" dirty="0">
                <a:solidFill>
                  <a:srgbClr val="19172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 de clientes por segmento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936E36E2-C8AA-D6F3-7A57-9FFB9156006A}"/>
              </a:ext>
            </a:extLst>
          </p:cNvPr>
          <p:cNvSpPr/>
          <p:nvPr/>
        </p:nvSpPr>
        <p:spPr>
          <a:xfrm rot="5400000" flipH="1">
            <a:off x="3000205" y="2208943"/>
            <a:ext cx="318455" cy="10520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900" dirty="0">
                <a:solidFill>
                  <a:srgbClr val="F2F2F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Receita total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4514D8CF-B10F-E3EE-A6A0-C1C65F61504B}"/>
              </a:ext>
            </a:extLst>
          </p:cNvPr>
          <p:cNvSpPr/>
          <p:nvPr/>
        </p:nvSpPr>
        <p:spPr>
          <a:xfrm rot="5400000" flipH="1">
            <a:off x="979673" y="2174008"/>
            <a:ext cx="318455" cy="11397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900" dirty="0">
                <a:solidFill>
                  <a:srgbClr val="F2F2F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Total de clientes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201E516-E236-C59D-7F38-FCA4ACF3A621}"/>
              </a:ext>
            </a:extLst>
          </p:cNvPr>
          <p:cNvSpPr/>
          <p:nvPr/>
        </p:nvSpPr>
        <p:spPr>
          <a:xfrm rot="5400000" flipH="1">
            <a:off x="8923318" y="2199652"/>
            <a:ext cx="318455" cy="10995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900" dirty="0">
                <a:solidFill>
                  <a:srgbClr val="F2F2F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% de campeões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DD31CCB2-F55C-2916-6C2D-1F0580E8F760}"/>
              </a:ext>
            </a:extLst>
          </p:cNvPr>
          <p:cNvSpPr/>
          <p:nvPr/>
        </p:nvSpPr>
        <p:spPr>
          <a:xfrm rot="5400000" flipH="1">
            <a:off x="6960969" y="2097393"/>
            <a:ext cx="318455" cy="1292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900" dirty="0">
                <a:solidFill>
                  <a:srgbClr val="F2F2F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Receita campeões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221495D4-82CC-EF79-7CB2-DBCDB06C3CFE}"/>
              </a:ext>
            </a:extLst>
          </p:cNvPr>
          <p:cNvSpPr/>
          <p:nvPr/>
        </p:nvSpPr>
        <p:spPr>
          <a:xfrm rot="5400000" flipH="1">
            <a:off x="4940438" y="1932000"/>
            <a:ext cx="318455" cy="16059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900" dirty="0">
                <a:solidFill>
                  <a:srgbClr val="F2F2F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Ticket médio por clientes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06CF62B1-DF69-06B5-91C7-A0B40B9D85A7}"/>
              </a:ext>
            </a:extLst>
          </p:cNvPr>
          <p:cNvSpPr/>
          <p:nvPr/>
        </p:nvSpPr>
        <p:spPr>
          <a:xfrm rot="5400000" flipH="1">
            <a:off x="10885677" y="2059197"/>
            <a:ext cx="318455" cy="13912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900" dirty="0">
                <a:solidFill>
                  <a:srgbClr val="F2F2F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% receita campeões</a:t>
            </a:r>
          </a:p>
        </p:txBody>
      </p:sp>
      <p:pic>
        <p:nvPicPr>
          <p:cNvPr id="49" name="Imagem 48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035DA0E6-51B8-22EF-815A-F860A4A85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1" t="27254" r="16034" b="32640"/>
          <a:stretch>
            <a:fillRect/>
          </a:stretch>
        </p:blipFill>
        <p:spPr>
          <a:xfrm>
            <a:off x="267930" y="236112"/>
            <a:ext cx="1714905" cy="642851"/>
          </a:xfrm>
          <a:prstGeom prst="rect">
            <a:avLst/>
          </a:prstGeom>
        </p:spPr>
      </p:pic>
      <p:pic>
        <p:nvPicPr>
          <p:cNvPr id="14" name="Gráfico 13" descr="Usuário estrutura de tópicos">
            <a:extLst>
              <a:ext uri="{FF2B5EF4-FFF2-40B4-BE49-F238E27FC236}">
                <a16:creationId xmlns:a16="http://schemas.microsoft.com/office/drawing/2014/main" id="{21695B71-4302-2D9F-D974-99B37B98F1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000" y="2066922"/>
            <a:ext cx="252000" cy="252000"/>
          </a:xfrm>
          <a:prstGeom prst="rect">
            <a:avLst/>
          </a:prstGeom>
        </p:spPr>
      </p:pic>
      <p:pic>
        <p:nvPicPr>
          <p:cNvPr id="16" name="Gráfico 15" descr="Carteira estrutura de tópicos">
            <a:extLst>
              <a:ext uri="{FF2B5EF4-FFF2-40B4-BE49-F238E27FC236}">
                <a16:creationId xmlns:a16="http://schemas.microsoft.com/office/drawing/2014/main" id="{8BDD353A-799D-0915-2690-E607BDA57C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66835" y="2046366"/>
            <a:ext cx="252000" cy="252000"/>
          </a:xfrm>
          <a:prstGeom prst="rect">
            <a:avLst/>
          </a:prstGeom>
        </p:spPr>
      </p:pic>
      <p:pic>
        <p:nvPicPr>
          <p:cNvPr id="18" name="Gráfico 17" descr="Registrar estrutura de tópicos">
            <a:extLst>
              <a:ext uri="{FF2B5EF4-FFF2-40B4-BE49-F238E27FC236}">
                <a16:creationId xmlns:a16="http://schemas.microsoft.com/office/drawing/2014/main" id="{8B88F331-85EE-3006-0A5F-C0FC15F151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9673" y="2066922"/>
            <a:ext cx="252000" cy="252000"/>
          </a:xfrm>
          <a:prstGeom prst="rect">
            <a:avLst/>
          </a:prstGeom>
        </p:spPr>
      </p:pic>
      <p:pic>
        <p:nvPicPr>
          <p:cNvPr id="28" name="Gráfico 27" descr="Dólar estrutura de tópicos">
            <a:extLst>
              <a:ext uri="{FF2B5EF4-FFF2-40B4-BE49-F238E27FC236}">
                <a16:creationId xmlns:a16="http://schemas.microsoft.com/office/drawing/2014/main" id="{EC687F33-969D-634B-323B-607B788E93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1027" y="2059900"/>
            <a:ext cx="252000" cy="252000"/>
          </a:xfrm>
          <a:prstGeom prst="rect">
            <a:avLst/>
          </a:prstGeom>
        </p:spPr>
      </p:pic>
      <p:pic>
        <p:nvPicPr>
          <p:cNvPr id="36" name="Gráfico 35" descr="Público-alvo estrutura de tópicos">
            <a:extLst>
              <a:ext uri="{FF2B5EF4-FFF2-40B4-BE49-F238E27FC236}">
                <a16:creationId xmlns:a16="http://schemas.microsoft.com/office/drawing/2014/main" id="{AE2B5CDC-A482-6351-F751-F75C8FC0A2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5352" y="2059900"/>
            <a:ext cx="252000" cy="252000"/>
          </a:xfrm>
          <a:prstGeom prst="rect">
            <a:avLst/>
          </a:prstGeom>
        </p:spPr>
      </p:pic>
      <p:pic>
        <p:nvPicPr>
          <p:cNvPr id="48" name="Gráfico 47" descr="Barras de ouro estrutura de tópicos">
            <a:extLst>
              <a:ext uri="{FF2B5EF4-FFF2-40B4-BE49-F238E27FC236}">
                <a16:creationId xmlns:a16="http://schemas.microsoft.com/office/drawing/2014/main" id="{EAE4853E-BC4A-8B1E-6815-91FDDCF1700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98192" y="2046366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857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42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ADLaM Display</vt:lpstr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de Sousa Belizário</dc:creator>
  <cp:lastModifiedBy>Douglas de Sousa Belizário</cp:lastModifiedBy>
  <cp:revision>5</cp:revision>
  <dcterms:created xsi:type="dcterms:W3CDTF">2026-02-11T23:13:25Z</dcterms:created>
  <dcterms:modified xsi:type="dcterms:W3CDTF">2026-02-13T11:28:18Z</dcterms:modified>
</cp:coreProperties>
</file>